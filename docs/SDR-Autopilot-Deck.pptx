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4D399"/>
              </a:solidFill>
              <a:effectLst/>
            </c:spPr>
          </c:dPt>
          <c:dPt>
            <c:idx val="1"/>
            <c:bubble3D val="0"/>
            <c:spPr>
              <a:solidFill>
                <a:srgbClr val="FBBF24"/>
              </a:solidFill>
              <a:effectLst/>
            </c:spPr>
          </c:dPt>
          <c:dPt>
            <c:idx val="2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B122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B122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B122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Fully working</c:v>
                </c:pt>
                <c:pt idx="1">
                  <c:v>Partial</c:v>
                </c:pt>
                <c:pt idx="2">
                  <c:v>Skipped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13</c:v>
                </c:pt>
                <c:pt idx="1">
                  <c:v>3</c:v>
                </c:pt>
                <c:pt idx="2">
                  <c:v>5</c:v>
                </c:pt>
              </c:numCache>
            </c:numRef>
          </c:val>
        </c:ser>
        <c:firstSliceAng val="0"/>
        <c:holeSize val="58"/>
      </c:doughnutChart>
      <c:spPr>
        <a:noFill/>
        <a:ln w="12700" cap="flat">
          <a:solidFill>
            <a:srgbClr val="0B1220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live URL already loaded. One line: a control plane where a manager configures campaigns, and AI agents do the selling work inside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jobs a rep does by hand. The brief's own question is the bar we set ourselves.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built the control plane first so the agents plugged into something that already enforced the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runs in the browser on purpose: every step is a billable agent call, so it pauses automatically when nobody is watching.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live: say the outreach numbers out loud, pause one campaign, wait 30 seconds, resume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violet DronaHQ badges with real latency in the activity feed.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thing in the build. Tell it as a before-and-after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kill switch is stored in Postgres, so it survives a restart. That is deliberate for an emergency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Volunteering the vector RAG gap is stronger than being caught by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app here. Start the loop about a minute before this slide so an email is waiting.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1F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" y="2002536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1700784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SDR Autopilot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724912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SDR that runs real GTM campaigns across channels —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human in control of every agent, every channel, every moment.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9776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46451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running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concurrently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39776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46451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DronaHQ agents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39776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46451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agent actions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by source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57790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Guild Buildathon 2026  ·  Tech Contingent, IIT Madras × DronaHQ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60533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sdr-autopilot.vercel.app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development is manual, repetitive, inconsistent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47472" cy="347472"/>
          </a:xfrm>
          <a:prstGeom prst="ellipse">
            <a:avLst/>
          </a:prstGeom>
          <a:solidFill>
            <a:srgbClr val="161F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4767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057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read the same company pages over and over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606040"/>
            <a:ext cx="347472" cy="347472"/>
          </a:xfrm>
          <a:prstGeom prst="ellipse">
            <a:avLst/>
          </a:prstGeom>
          <a:solidFill>
            <a:srgbClr val="161F3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724912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rewritten by hand, quality varies by rep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347472" cy="347472"/>
          </a:xfrm>
          <a:prstGeom prst="ellipse">
            <a:avLst/>
          </a:prstGeom>
          <a:solidFill>
            <a:srgbClr val="161F3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502152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scattered across email, LinkedIn, SMS and calls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160520"/>
            <a:ext cx="347472" cy="347472"/>
          </a:xfrm>
          <a:prstGeom prst="ellipse">
            <a:avLst/>
          </a:prstGeom>
          <a:solidFill>
            <a:srgbClr val="161F30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279392"/>
            <a:ext cx="109728" cy="10972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typed into a CRM after the fact, or not at all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23760" y="1737360"/>
            <a:ext cx="4389120" cy="3291840"/>
          </a:xfrm>
          <a:prstGeom prst="roundRect">
            <a:avLst>
              <a:gd name="adj" fmla="val 1667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3800" y="2011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judges keep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back to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269748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close is this to a</a:t>
            </a:r>
            <a:endParaRPr lang="en-US" sz="20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SDR working</a:t>
            </a:r>
            <a:endParaRPr lang="en-US" sz="20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autonomously across</a:t>
            </a:r>
            <a:endParaRPr lang="en-US" sz="20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channels?”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 had to be one product, not five disconnected bots.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product, two halves that must work as 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60520"/>
          </a:xfrm>
          <a:prstGeom prst="roundRect">
            <a:avLst>
              <a:gd name="adj" fmla="val 1319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29968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1874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2128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stays in charge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9748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concurrent campaigns, independent state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Live → Paused → Completed → Archived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 campaign, an agent, a channel, or everything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versioning with rollback and full audit trail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Funnel, outreach, escalations, cost per campaign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4160520"/>
          </a:xfrm>
          <a:prstGeom prst="roundRect">
            <a:avLst>
              <a:gd name="adj" fmla="val 1319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029968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03720" y="1874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layer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22128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agents do the work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69748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 prospect against the live web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against campaign-specific ICP criteria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outreach grounded in that research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channel and cadence by sequence step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a human rather than guess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half is optional. A control plane with no agents is a dashboard; agents with no control plane is a script.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 TOGETHER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91840" cy="1600200"/>
          </a:xfrm>
          <a:prstGeom prst="roundRect">
            <a:avLst>
              <a:gd name="adj" fmla="val 3429"/>
            </a:avLst>
          </a:prstGeom>
          <a:solidFill>
            <a:srgbClr val="161F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76479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— control plane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029968"/>
            <a:ext cx="2962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Campaigns, prompts, funnel,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prospects, activity, controls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3291840" cy="1600200"/>
          </a:xfrm>
          <a:prstGeom prst="roundRect">
            <a:avLst>
              <a:gd name="adj" fmla="val 3429"/>
            </a:avLst>
          </a:prstGeom>
          <a:solidFill>
            <a:srgbClr val="161F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354787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813048"/>
            <a:ext cx="2962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per live campaign.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Gates: status, agent pause,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pause, kill switch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2514600"/>
            <a:ext cx="3108960" cy="1691640"/>
          </a:xfrm>
          <a:prstGeom prst="roundRect">
            <a:avLst>
              <a:gd name="adj" fmla="val 3243"/>
            </a:avLst>
          </a:prstGeom>
          <a:solidFill>
            <a:srgbClr val="161F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90872" y="2633472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90872" y="2898648"/>
            <a:ext cx="2779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/api/state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/api/agents/[agent]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/api/send/email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reach the client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21040" y="13258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161F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85632" y="144475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Postgres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85632" y="1709928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Campaigns, prompt versions,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prospects, activity, controls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21040" y="283464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161F3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85632" y="295351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DronaHQ Agents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3218688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published agents called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Webhook Triggers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321040" y="434340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161F3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85632" y="446227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API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485632" y="4727448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send-only scope, every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redirected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40480" y="2450592"/>
            <a:ext cx="685800" cy="56692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840480" y="4233672"/>
            <a:ext cx="685800" cy="-530352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635240" y="3017520"/>
            <a:ext cx="685800" cy="-100584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635240" y="3364992"/>
            <a:ext cx="685800" cy="15544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635240" y="3703320"/>
            <a:ext cx="685800" cy="132588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is the source of truth. The browser keeps a working copy and reconciles every 15 seconds, so two people see the same campaigns.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REQUIRED DEMONSTRATION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campaigns running at once, fully isolated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97764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ICP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903720" y="1691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0241280" y="1691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221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SaaS CTO Outreach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B2B SaaS CTOs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LinkedIn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241280" y="2304288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469880" y="2221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770632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0B122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9352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BFSI CIO Outreach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2953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banks, NBFCs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953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LinkedIn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241280" y="3017520"/>
            <a:ext cx="118872" cy="1188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469880" y="29352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483864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648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Voice AI Founders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977640" y="3666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Seed–Series A founders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6667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· Voice · Email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241280" y="3730752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469880" y="3648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197096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0B122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4361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Expansion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977640" y="43799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customers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43799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241280" y="4443984"/>
            <a:ext cx="118872" cy="11887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469880" y="43616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5230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isolation, measured live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554126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SaaS paused → froze at 14 prospects / 2 outreach.   </a:t>
            </a:r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kept running → 13 → 14 and 2 → 3.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" y="587044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 campaigns retain every prospect and conversation, and resume exactly where they stopped.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DRONAHQ IS USED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DronaHQ is the intelligence layer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858000" cy="548640"/>
          </a:xfrm>
          <a:prstGeom prst="roundRect">
            <a:avLst>
              <a:gd name="adj" fmla="val 10000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11096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17465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Research &amp; Enrichment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0025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research → sourced dossier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8562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350008"/>
            <a:ext cx="6858000" cy="548640"/>
          </a:xfrm>
          <a:prstGeom prst="roundRect">
            <a:avLst>
              <a:gd name="adj" fmla="val 10000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69464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15568" y="24048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Strategy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66090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Whether, when, which channel, which angle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5146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008376"/>
            <a:ext cx="6858000" cy="548640"/>
          </a:xfrm>
          <a:prstGeom prst="roundRect">
            <a:avLst>
              <a:gd name="adj" fmla="val 10000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227832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15568" y="30632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Personalisation / Email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31927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message from the dossier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1729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66744"/>
            <a:ext cx="6858000" cy="548640"/>
          </a:xfrm>
          <a:prstGeom prst="roundRect">
            <a:avLst>
              <a:gd name="adj" fmla="val 10000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88620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15568" y="37216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39776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replies, escalates pricing &amp; legal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38313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325112"/>
            <a:ext cx="6858000" cy="548640"/>
          </a:xfrm>
          <a:prstGeom prst="roundRect">
            <a:avLst>
              <a:gd name="adj" fmla="val 10000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544568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15568" y="43799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115568" y="463600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Cadence, revival, when to stop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44897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983480"/>
            <a:ext cx="6858000" cy="548640"/>
          </a:xfrm>
          <a:prstGeom prst="roundRect">
            <a:avLst>
              <a:gd name="adj" fmla="val 10000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5202936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15568" y="50383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ICP Fitment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529437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returns empty runs — local port of its rules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309360" y="51480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26680" y="1691640"/>
            <a:ext cx="3886200" cy="4160520"/>
          </a:xfrm>
          <a:prstGeom prst="roundRect">
            <a:avLst>
              <a:gd name="adj" fmla="val 1412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28432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made it work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028432" y="228600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declares its own Webhook Input, and the field names are load-bearing.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payload used invented names — the ICP agent’s own guard fired rather than guessing.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carries the campaign’s active system prompt and agent prompt.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what makes one shared set of agents behave differently per campaign.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in the activity log records its source, latency and harness version — the app never claims an agent ran when it did not.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PERSONALISATION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agent, with and without research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109728" cy="10972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07008" y="18653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the dossier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37744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“Loomwork recently raised a Series C and is expanding its engineering team… companies like Notion optimize workflows.”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22452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facts invented. Nothing in the prompt was wrong — it simply had nothing true to say.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01168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22008" y="18653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dossier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37744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flat-file approach Linear employs for content management seems effective… as your platform grows, the minimalistic architecture might pose challenges.”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22452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a fact the Research agent found and cited. Same agent, same prompt.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55595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is enforced by data flow, not by asking nicely.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852160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agent’s brief is stored on the prospect and injected into every downstream agent under a heading that forbids asserting anything absent from it.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&amp; SAFETY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can stop any part of it, instantly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0" cy="603504"/>
          </a:xfrm>
          <a:prstGeom prst="roundRect">
            <a:avLst>
              <a:gd name="adj" fmla="val 9091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84248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82880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pause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183794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campaign stops, the rest keep running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6400800" cy="603504"/>
          </a:xfrm>
          <a:prstGeom prst="roundRect">
            <a:avLst>
              <a:gd name="adj" fmla="val 9091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69748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254203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pause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255117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stops, the campaign continues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63824"/>
            <a:ext cx="6400800" cy="603504"/>
          </a:xfrm>
          <a:prstGeom prst="roundRect">
            <a:avLst>
              <a:gd name="adj" fmla="val 9091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341071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325526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pause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32644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channel stops, the others stay open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77056"/>
            <a:ext cx="6400800" cy="603504"/>
          </a:xfrm>
          <a:prstGeom prst="roundRect">
            <a:avLst>
              <a:gd name="adj" fmla="val 9091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123944"/>
            <a:ext cx="109728" cy="10972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396849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kill switch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397764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autonomous action halts, platform-wide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90288"/>
            <a:ext cx="6400800" cy="603504"/>
          </a:xfrm>
          <a:prstGeom prst="roundRect">
            <a:avLst>
              <a:gd name="adj" fmla="val 9091"/>
            </a:avLst>
          </a:prstGeom>
          <a:solidFill>
            <a:srgbClr val="161F30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837176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43000" y="46817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toggle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337560" y="469087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this browser spending; pauses when hidden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269480" y="1737360"/>
            <a:ext cx="4343400" cy="2148840"/>
          </a:xfrm>
          <a:prstGeom prst="roundRect">
            <a:avLst>
              <a:gd name="adj" fmla="val 2553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71232" y="1920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outreach reaches a real company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571232" y="2487168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Prospects are synthetic people at real company domains, so every email is redirected to one demo inbox. There is no code path that delivers to a prospect address — if the redirect is unset, it refuses to send.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269480" y="4023360"/>
            <a:ext cx="4343400" cy="1737360"/>
          </a:xfrm>
          <a:prstGeom prst="roundRect">
            <a:avLst>
              <a:gd name="adj" fmla="val 3158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71232" y="4187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guards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571232" y="449884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cap per instance · 15s between sends · agent calls spaced per agent · loop pauses on hidden tab and idle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STATUS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works, what is partial, what we skipped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783080"/>
          <a:ext cx="39319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09160" y="1856232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28616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working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709160" y="2148840"/>
            <a:ext cx="2240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campaigns, independent state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 and four levels of pause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versioning, rollback, audit trail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DronaHQ agents live in production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personalisation, real email sent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Postgres-backed shared state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086600" y="1856232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06056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2148840"/>
            <a:ext cx="2240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qualification runs a local port of the agent’s rules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return prose, not their JSON schemas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sends; LinkedIn, SMS and voice are modelled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464040" y="1856232"/>
            <a:ext cx="109728" cy="1097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83496" y="1719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464040" y="2148840"/>
            <a:ext cx="2240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RAG knowledge base — our largest gap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assignment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lead sourcing (Apollo)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SDR agent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 rather name the gaps than have a judge find them. Every claim on these slides is verifiable in the running app.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running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D2739"/>
          </a:solidFill>
          <a:ln w="12700">
            <a:solidFill>
              <a:srgbClr val="1D27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12848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9933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sdr-autopilot.vercel.app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5054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github.com/shanmukhapreetham27/sdr-autopilot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099816"/>
            <a:ext cx="310896" cy="310896"/>
          </a:xfrm>
          <a:prstGeom prst="ellipse">
            <a:avLst/>
          </a:prstGeom>
          <a:solidFill>
            <a:srgbClr val="161F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14553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0815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campaigns, independent state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3099816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one — the others keep climbing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721608"/>
            <a:ext cx="310896" cy="310896"/>
          </a:xfrm>
          <a:prstGeom prst="ellipse">
            <a:avLst/>
          </a:prstGeom>
          <a:solidFill>
            <a:srgbClr val="161F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76732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7033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feed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372160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with its source, latency and prompt version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343400"/>
            <a:ext cx="310896" cy="310896"/>
          </a:xfrm>
          <a:prstGeom prst="ellipse">
            <a:avLst/>
          </a:prstGeom>
          <a:solidFill>
            <a:srgbClr val="161F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38912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3251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generated message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43434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a dossier another agent researched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965192"/>
            <a:ext cx="310896" cy="310896"/>
          </a:xfrm>
          <a:prstGeom prst="ellipse">
            <a:avLst/>
          </a:prstGeom>
          <a:solidFill>
            <a:srgbClr val="161F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501091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9469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 you can check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496519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rejected as a consultancy; Deepgram held at 250 staff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5586984"/>
            <a:ext cx="310896" cy="310896"/>
          </a:xfrm>
          <a:prstGeom prst="ellipse">
            <a:avLst/>
          </a:prstGeom>
          <a:solidFill>
            <a:srgbClr val="161F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563270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5686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inbox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558698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an agent wrote, actually delivered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0899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51 hours. 31 source files, 6,457 lines, 16 commits.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SDR Autopilot — Inter Guild Buildathon 2026</dc:title>
  <dc:subject>PptxGenJS Presentation</dc:subject>
  <dc:creator>SDR Autopilot</dc:creator>
  <cp:lastModifiedBy>SDR Autopilot</cp:lastModifiedBy>
  <cp:revision>1</cp:revision>
  <dcterms:created xsi:type="dcterms:W3CDTF">2026-09-20T13:15:00Z</dcterms:created>
  <dcterms:modified xsi:type="dcterms:W3CDTF">2026-09-20T13:15:00Z</dcterms:modified>
</cp:coreProperties>
</file>